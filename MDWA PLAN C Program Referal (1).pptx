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61" r:id="rId3"/>
    <p:sldId id="256" r:id="rId4"/>
    <p:sldId id="257" r:id="rId5"/>
    <p:sldId id="258" r:id="rId6"/>
    <p:sldId id="27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  <p:sldId id="260" r:id="rId17"/>
    <p:sldId id="279" r:id="rId18"/>
    <p:sldId id="280" r:id="rId19"/>
    <p:sldId id="283" r:id="rId20"/>
    <p:sldId id="284" r:id="rId21"/>
    <p:sldId id="277" r:id="rId22"/>
    <p:sldId id="278" r:id="rId23"/>
    <p:sldId id="281" r:id="rId24"/>
    <p:sldId id="282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7"/>
  </p:normalViewPr>
  <p:slideViewPr>
    <p:cSldViewPr snapToGrid="0">
      <p:cViewPr varScale="1">
        <p:scale>
          <a:sx n="104" d="100"/>
          <a:sy n="104" d="100"/>
        </p:scale>
        <p:origin x="8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9325-441C-6E40-F8EA-807B4F06A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A29F2-523F-735C-3A73-7CBF7CCC0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41A8-3FAC-7715-B720-EC2C474E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822CF-EA97-3250-D1A8-B60BB2CE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972B6-8E88-1038-40A8-1718F640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4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4ADF-6634-376C-3053-9CF85774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5EAD8-20F5-A147-6696-53C846FA8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96B85-8FB2-8B5B-8DA1-B9EF6E6D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3662E-1B18-577B-48DF-3CA83A5D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051D-3AE0-FFB9-170C-EA4D717F5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15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770A-1A74-6502-A0A0-68806068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DD07B-AB24-7E24-ABF3-46F72BCFD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EA501-3A48-52B0-2D69-1479CEF7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9FC7-921C-AE9A-0E26-96A17309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674A0-700D-44A4-A675-9D717007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1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2784-40ED-B5D4-658A-3FA5DEB8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16131-00A6-604A-A68A-1F413278C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3E4EA-36E4-8483-E271-0E446B04B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10BB4-F5B5-A459-A3F1-D1A3F480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764B9-50AA-A116-8EA5-F8F708BC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98077-21E6-77A9-6A03-126A72C19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4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9F52-50B0-CA3A-8C63-4F10A51D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9D0C3-F69A-D0C7-07F6-104B4B138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B6D92-2ED5-D386-C23E-78BF907F7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3020B-7EE3-799A-E3C8-32C7AC854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28C2A6-5EAB-1F6E-2A6F-31C35653F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B57FD-ADAF-D602-68F6-7914A228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6CD90-CB47-032E-AAF8-CD65C20C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FD69F-3C43-B81C-287B-35F9FFAA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4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F8A6-808D-4C6C-70F8-DAB201EC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E2C7F-8450-CBE0-5CA9-84A7321D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BF657-AAE0-442A-E0EF-D862C718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89177-AFD0-4FD9-0752-C9DE0B2C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3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46417-FABF-B273-64A7-30C86F119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A991C-57BE-E9D5-2CA6-DDDFA9FE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3B44F-477D-DBF0-5FC7-257ECA87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85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FDCF-64D3-D4B3-5BB5-4334B676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BBA18-217F-4AE0-5A61-7F4D39815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DAC47-8BC0-F5DE-D956-510D2158E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60CF6-F19A-B0B7-53AA-9FC8A222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7D1BC-879B-78B3-F343-E3A8A61E8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6FDC1-0B1C-BBCC-88B2-D9049EA2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6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1DCB-774E-6CDA-1173-0EBBAC44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449BA-5353-F66F-B93D-98B313B2F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F1D99-125B-3E73-9347-44A7E01C9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5286B-3BCE-1012-DD5D-B8A08E43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9D2A-BD79-A82F-DA6D-53B72BF5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E4978-EDBF-2661-C665-BCE09360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2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D95B-B787-B869-1092-7126FF91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D2896-5A2D-8A79-E89D-0B6174200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AAA5B-2B2C-D067-C119-27E19E3B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597A6-B1F7-624D-C969-62B9BF24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828B5-E28A-5201-DB84-F5D0844C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9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51663-E3B5-AB79-B222-31236743B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58033-2792-17AD-FE74-C40D1FEEB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4612A-8FF9-06DB-CAA0-E47D9373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FE5EA-72F7-F43E-E0BF-01EA16F1C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45267-84BA-A5B9-B5B0-20C8C852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8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2D2C1-54AE-57DF-4A24-9FC22465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F5582-5139-13F4-A903-F7CB98E0C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3DBBF-761F-490F-B199-06B45BD9D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6DF2F-28E8-0741-B498-DF10C790914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8775B-8E60-37B6-CA93-9058D7512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DC4E8-117D-B5E4-10EA-60DA5AFE3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C1E7A-2B3F-164E-A33D-CC3E78AF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4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8.wdp"/><Relationship Id="rId5" Type="http://schemas.openxmlformats.org/officeDocument/2006/relationships/image" Target="../media/image10.png"/><Relationship Id="rId4" Type="http://schemas.microsoft.com/office/2007/relationships/hdphoto" Target="../media/hdphoto7.wdp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0.wdp"/><Relationship Id="rId5" Type="http://schemas.openxmlformats.org/officeDocument/2006/relationships/image" Target="../media/image13.png"/><Relationship Id="rId4" Type="http://schemas.microsoft.com/office/2007/relationships/hdphoto" Target="../media/hdphoto9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2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56A3A75E-2980-73E2-C98D-14003E35E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DA101AF-455D-4274-0FBA-95484628F94A}"/>
              </a:ext>
            </a:extLst>
          </p:cNvPr>
          <p:cNvGrpSpPr/>
          <p:nvPr/>
        </p:nvGrpSpPr>
        <p:grpSpPr>
          <a:xfrm>
            <a:off x="1239859" y="1538299"/>
            <a:ext cx="9700091" cy="3763113"/>
            <a:chOff x="1239857" y="2293992"/>
            <a:chExt cx="9700091" cy="37631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0DDB12-AED1-B8BE-A943-1E8CD9F3D0CF}"/>
                </a:ext>
              </a:extLst>
            </p:cNvPr>
            <p:cNvSpPr/>
            <p:nvPr/>
          </p:nvSpPr>
          <p:spPr>
            <a:xfrm>
              <a:off x="3187820" y="2293992"/>
              <a:ext cx="5791971" cy="212365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6600" b="1" cap="none" spc="0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HARTER ROMAN" panose="02040503050506020203" pitchFamily="18" charset="0"/>
                  <a:cs typeface="Big Caslon Medium" panose="02000603090000020003" pitchFamily="2" charset="-79"/>
                </a:rPr>
                <a:t>BERBISNIS</a:t>
              </a:r>
            </a:p>
            <a:p>
              <a:pPr algn="ctr"/>
              <a:r>
                <a:rPr lang="en-US" sz="6600" b="1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HARTER ROMAN" panose="02040503050506020203" pitchFamily="18" charset="0"/>
                  <a:cs typeface="Big Caslon Medium" panose="02000603090000020003" pitchFamily="2" charset="-79"/>
                </a:rPr>
                <a:t>BERINVESTASI</a:t>
              </a:r>
              <a:endParaRPr lang="en-US" sz="66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HARTER ROMAN" panose="02040503050506020203" pitchFamily="18" charset="0"/>
                <a:cs typeface="BIG CASLON MEDIUM" panose="02000603090000020003" pitchFamily="2" charset="-79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D13BBCC-698B-33A9-A103-4EF2F98244AF}"/>
                </a:ext>
              </a:extLst>
            </p:cNvPr>
            <p:cNvSpPr/>
            <p:nvPr/>
          </p:nvSpPr>
          <p:spPr>
            <a:xfrm>
              <a:off x="1239857" y="4195057"/>
              <a:ext cx="9700091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b="1" cap="none" spc="0" dirty="0">
                  <a:ln w="0"/>
                  <a:solidFill>
                    <a:srgbClr val="FF0000"/>
                  </a:solidFill>
                  <a:effectLst>
                    <a:glow rad="508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HARTER ROMAN" panose="02040503050506020203" pitchFamily="18" charset="0"/>
                  <a:cs typeface="Big Caslon Medium" panose="02000603090000020003" pitchFamily="2" charset="-79"/>
                </a:rPr>
                <a:t>DAPAT CUAN</a:t>
              </a:r>
              <a:r>
                <a:rPr lang="id-ID" sz="11500" b="1" cap="none" spc="0" dirty="0">
                  <a:ln w="0"/>
                  <a:solidFill>
                    <a:srgbClr val="FF0000"/>
                  </a:solidFill>
                  <a:effectLst>
                    <a:glow rad="508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HARTER ROMAN" panose="02040503050506020203" pitchFamily="18" charset="0"/>
                  <a:cs typeface="Big Caslon Medium" panose="02000603090000020003" pitchFamily="2" charset="-79"/>
                </a:rPr>
                <a:t> </a:t>
              </a:r>
              <a:r>
                <a:rPr lang="en-US" sz="11500" b="1" cap="none" spc="0" dirty="0">
                  <a:ln w="0"/>
                  <a:solidFill>
                    <a:srgbClr val="FF0000"/>
                  </a:solidFill>
                  <a:effectLst>
                    <a:glow rad="50800">
                      <a:schemeClr val="bg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HARTER ROMAN" panose="02040503050506020203" pitchFamily="18" charset="0"/>
                  <a:cs typeface="Big Caslon Medium" panose="02000603090000020003" pitchFamily="2" charset="-79"/>
                </a:rPr>
                <a:t>!</a:t>
              </a:r>
              <a:endParaRPr lang="en-US" sz="11500" b="1" cap="none" spc="0" dirty="0">
                <a:ln w="0"/>
                <a:solidFill>
                  <a:srgbClr val="FF0000"/>
                </a:solidFill>
                <a:effectLst>
                  <a:glow rad="508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HARTER ROMAN" panose="02040503050506020203" pitchFamily="18" charset="0"/>
                <a:cs typeface="BIG CASLON MEDIUM" panose="020006030900000200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000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56A3A75E-2980-73E2-C98D-14003E35E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5E85EBC-6C1D-9C9E-A7CD-87A97EF1D766}"/>
              </a:ext>
            </a:extLst>
          </p:cNvPr>
          <p:cNvGrpSpPr/>
          <p:nvPr/>
        </p:nvGrpSpPr>
        <p:grpSpPr>
          <a:xfrm>
            <a:off x="2470222" y="1827025"/>
            <a:ext cx="7239364" cy="3185661"/>
            <a:chOff x="2476318" y="1836169"/>
            <a:chExt cx="7239364" cy="318566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A44A60-B75F-9E19-67C6-71167FD5040C}"/>
                </a:ext>
              </a:extLst>
            </p:cNvPr>
            <p:cNvGrpSpPr/>
            <p:nvPr/>
          </p:nvGrpSpPr>
          <p:grpSpPr>
            <a:xfrm>
              <a:off x="2476318" y="1836169"/>
              <a:ext cx="7227171" cy="3185661"/>
              <a:chOff x="2476318" y="1342190"/>
              <a:chExt cx="7227171" cy="318566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00DDB12-AED1-B8BE-A943-1E8CD9F3D0CF}"/>
                  </a:ext>
                </a:extLst>
              </p:cNvPr>
              <p:cNvSpPr/>
              <p:nvPr/>
            </p:nvSpPr>
            <p:spPr>
              <a:xfrm>
                <a:off x="2476318" y="2311860"/>
                <a:ext cx="7227171" cy="221599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13800" b="1" cap="none" spc="0" dirty="0">
                    <a:ln w="0"/>
                    <a:solidFill>
                      <a:srgbClr val="FFFF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HARTER ROMAN" panose="02040503050506020203" pitchFamily="18" charset="0"/>
                    <a:cs typeface="Big Caslon Medium" panose="02000603090000020003" pitchFamily="2" charset="-79"/>
                  </a:rPr>
                  <a:t>MDWA C</a:t>
                </a:r>
                <a:endParaRPr lang="en-US" sz="13800" b="1" cap="none" spc="0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HARTER ROMAN" panose="02040503050506020203" pitchFamily="18" charset="0"/>
                  <a:cs typeface="BIG CASLON MEDIUM" panose="02000603090000020003" pitchFamily="2" charset="-79"/>
                </a:endParaRPr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0CA0AF4-242B-5EE8-92BD-201FFF13B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4836" r="24734"/>
              <a:stretch/>
            </p:blipFill>
            <p:spPr>
              <a:xfrm>
                <a:off x="5503262" y="1342190"/>
                <a:ext cx="1173282" cy="1163270"/>
              </a:xfrm>
              <a:prstGeom prst="rect">
                <a:avLst/>
              </a:prstGeom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1FA1D01-4AC3-58CA-A520-8BB034A6C42B}"/>
                </a:ext>
              </a:extLst>
            </p:cNvPr>
            <p:cNvSpPr/>
            <p:nvPr/>
          </p:nvSpPr>
          <p:spPr>
            <a:xfrm>
              <a:off x="2553913" y="4621720"/>
              <a:ext cx="716176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000" b="0" cap="none" spc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MANULIFE DYNAMIC WEALTH ASSURANCE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936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BF6A34-082B-B306-BDE1-5B78259CB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6032" y="0"/>
            <a:ext cx="11521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0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F38CD0-0B60-BCF0-5DF8-6AEDD44ABE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"/>
          <a:stretch/>
        </p:blipFill>
        <p:spPr>
          <a:xfrm>
            <a:off x="1166813" y="0"/>
            <a:ext cx="9781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6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05D13-5FFE-9A56-2EF8-2FD8465A5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490" y="0"/>
            <a:ext cx="981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6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56A3A75E-2980-73E2-C98D-14003E35E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kir_hilangin_background-removebg-preview - Badoy Studio">
            <a:extLst>
              <a:ext uri="{FF2B5EF4-FFF2-40B4-BE49-F238E27FC236}">
                <a16:creationId xmlns:a16="http://schemas.microsoft.com/office/drawing/2014/main" id="{84C66EBE-94EA-3E85-3D12-EFBCEAE4E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4" t="3521" r="11175"/>
          <a:stretch/>
        </p:blipFill>
        <p:spPr bwMode="auto">
          <a:xfrm>
            <a:off x="719328" y="601890"/>
            <a:ext cx="4312138" cy="6128094"/>
          </a:xfrm>
          <a:prstGeom prst="rect">
            <a:avLst/>
          </a:prstGeom>
          <a:noFill/>
          <a:effectLst>
            <a:glow>
              <a:schemeClr val="tx1">
                <a:lumMod val="85000"/>
                <a:lumOff val="1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C2E7DE4-51EF-ADC7-3DBF-5B27BE588350}"/>
              </a:ext>
            </a:extLst>
          </p:cNvPr>
          <p:cNvGrpSpPr/>
          <p:nvPr/>
        </p:nvGrpSpPr>
        <p:grpSpPr>
          <a:xfrm>
            <a:off x="5266648" y="923330"/>
            <a:ext cx="5926850" cy="1630466"/>
            <a:chOff x="5266648" y="245471"/>
            <a:chExt cx="5926850" cy="163046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DF24A71-C5FF-C753-058E-9AF40D84FB45}"/>
                </a:ext>
              </a:extLst>
            </p:cNvPr>
            <p:cNvSpPr/>
            <p:nvPr/>
          </p:nvSpPr>
          <p:spPr>
            <a:xfrm>
              <a:off x="5266648" y="245471"/>
              <a:ext cx="517000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“</a:t>
              </a:r>
              <a:r>
                <a:rPr lang="en-US" sz="5400" b="0" cap="none" spc="0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Mengelola</a:t>
              </a:r>
              <a:r>
                <a:rPr lang="en-US" sz="5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 </a:t>
              </a:r>
              <a:r>
                <a:rPr lang="en-US" sz="5400" b="1" i="1" cap="none" spc="0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Dana</a:t>
              </a:r>
              <a:endParaRPr lang="en-US" sz="5400" b="1" i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G CASLON MEDIUM" panose="02000603090000020003" pitchFamily="2" charset="-79"/>
                <a:cs typeface="BIG CASLON MEDIUM" panose="02000603090000020003" pitchFamily="2" charset="-79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B41DDF-AE72-28AC-A394-5ACAB7C5CB50}"/>
                </a:ext>
              </a:extLst>
            </p:cNvPr>
            <p:cNvSpPr/>
            <p:nvPr/>
          </p:nvSpPr>
          <p:spPr>
            <a:xfrm>
              <a:off x="6387374" y="952607"/>
              <a:ext cx="480612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i="1" cap="none" spc="0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Secara</a:t>
              </a:r>
              <a:r>
                <a:rPr lang="en-US" sz="5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 </a:t>
              </a:r>
              <a:r>
                <a:rPr lang="en-US" sz="5400" b="1" cap="none" spc="0" dirty="0" err="1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Mandiri</a:t>
              </a:r>
              <a:r>
                <a:rPr lang="en-US" sz="5400" b="1" cap="none" spc="0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IG CASLON MEDIUM" panose="02000603090000020003" pitchFamily="2" charset="-79"/>
                  <a:cs typeface="BIG CASLON MEDIUM" panose="02000603090000020003" pitchFamily="2" charset="-79"/>
                </a:rPr>
                <a:t>”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00DDB12-AED1-B8BE-A943-1E8CD9F3D0CF}"/>
              </a:ext>
            </a:extLst>
          </p:cNvPr>
          <p:cNvSpPr/>
          <p:nvPr/>
        </p:nvSpPr>
        <p:spPr>
          <a:xfrm>
            <a:off x="5381815" y="3260932"/>
            <a:ext cx="582242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HARTER ROMAN" panose="02040503050506020203" pitchFamily="18" charset="0"/>
                <a:cs typeface="Big Caslon Medium" panose="02000603090000020003" pitchFamily="2" charset="-79"/>
              </a:rPr>
              <a:t>EMANG BISA</a:t>
            </a:r>
            <a:r>
              <a:rPr lang="id-ID" sz="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HARTER ROMAN" panose="02040503050506020203" pitchFamily="18" charset="0"/>
                <a:cs typeface="Big Caslon Medium" panose="02000603090000020003" pitchFamily="2" charset="-79"/>
              </a:rPr>
              <a:t> </a:t>
            </a:r>
            <a:r>
              <a:rPr lang="en-US" sz="66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HARTER ROMAN" panose="02040503050506020203" pitchFamily="18" charset="0"/>
                <a:cs typeface="Big Caslon Medium" panose="02000603090000020003" pitchFamily="2" charset="-79"/>
              </a:rPr>
              <a:t>?</a:t>
            </a:r>
            <a:endParaRPr lang="en-US" sz="6600" b="1" cap="none" spc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HARTER ROMAN" panose="02040503050506020203" pitchFamily="18" charset="0"/>
              <a:cs typeface="BIG CASLON MEDIUM" panose="0200060309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5294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0DDB12-AED1-B8BE-A943-1E8CD9F3D0CF}"/>
              </a:ext>
            </a:extLst>
          </p:cNvPr>
          <p:cNvSpPr/>
          <p:nvPr/>
        </p:nvSpPr>
        <p:spPr>
          <a:xfrm>
            <a:off x="2554577" y="2028616"/>
            <a:ext cx="7070654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APA YANG</a:t>
            </a:r>
          </a:p>
          <a:p>
            <a:pPr algn="ctr"/>
            <a:r>
              <a:rPr lang="en-US" sz="8800" b="1" dirty="0" err="1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DIDAPATKAN</a:t>
            </a:r>
            <a:r>
              <a:rPr lang="id-ID" sz="8800" b="1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 </a:t>
            </a:r>
            <a:r>
              <a:rPr lang="en-US" sz="8800" b="1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?</a:t>
            </a:r>
            <a:endParaRPr lang="en-US" sz="8800" b="1" cap="none" spc="0" dirty="0">
              <a:ln w="0"/>
              <a:solidFill>
                <a:srgbClr val="FFFF00"/>
              </a:solidFill>
              <a:effectLst>
                <a:glow rad="149360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nhala MN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0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D8661A-693F-11A6-29AC-46E619C0B92E}"/>
              </a:ext>
            </a:extLst>
          </p:cNvPr>
          <p:cNvGrpSpPr/>
          <p:nvPr/>
        </p:nvGrpSpPr>
        <p:grpSpPr>
          <a:xfrm>
            <a:off x="3605633" y="1568112"/>
            <a:ext cx="7830463" cy="2645718"/>
            <a:chOff x="2290667" y="248519"/>
            <a:chExt cx="7830463" cy="26457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64DAB5-44DC-A9DB-15B0-E195CD112EEC}"/>
                </a:ext>
              </a:extLst>
            </p:cNvPr>
            <p:cNvSpPr/>
            <p:nvPr/>
          </p:nvSpPr>
          <p:spPr>
            <a:xfrm>
              <a:off x="2323354" y="248519"/>
              <a:ext cx="7797776" cy="93871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5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SETOR 5 MILIAR MDWA C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3F74F7-B519-E7FF-A8F9-99BB7241B0A6}"/>
                </a:ext>
              </a:extLst>
            </p:cNvPr>
            <p:cNvSpPr/>
            <p:nvPr/>
          </p:nvSpPr>
          <p:spPr>
            <a:xfrm>
              <a:off x="2290667" y="1324577"/>
              <a:ext cx="4968541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685800" indent="-685800" algn="ctr">
                <a:buFont typeface="Wingdings" pitchFamily="2" charset="2"/>
                <a:buChar char="§"/>
              </a:pPr>
              <a:r>
                <a:rPr lang="en-US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 </a:t>
              </a:r>
              <a:r>
                <a:rPr lang="en-US" sz="4800" b="1" i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Miliar</a:t>
              </a:r>
              <a:r>
                <a:rPr lang="en-US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/ </a:t>
              </a:r>
              <a:r>
                <a:rPr lang="en-US" sz="4800" b="1" i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marL="685800" indent="-685800" algn="ctr">
                <a:buFont typeface="Wingdings" pitchFamily="2" charset="2"/>
                <a:buChar char="§"/>
              </a:pPr>
              <a:r>
                <a:rPr lang="id-ID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elama</a:t>
              </a:r>
              <a:r>
                <a:rPr lang="en-US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5 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36F09E-9F7D-2FAB-E6CD-C7574C44B0ED}"/>
              </a:ext>
            </a:extLst>
          </p:cNvPr>
          <p:cNvCxnSpPr>
            <a:cxnSpLocks/>
          </p:cNvCxnSpPr>
          <p:nvPr/>
        </p:nvCxnSpPr>
        <p:spPr>
          <a:xfrm>
            <a:off x="3794654" y="2369197"/>
            <a:ext cx="734883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9D0EE4-25E1-E3E8-832E-332B2E7FD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4176" r="8521"/>
          <a:stretch/>
        </p:blipFill>
        <p:spPr>
          <a:xfrm flipH="1">
            <a:off x="0" y="2433923"/>
            <a:ext cx="4994493" cy="43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75000+ Gambar Orang Banyak Fotos, PNG, Background Download Gratis -  Lovepik.com">
            <a:extLst>
              <a:ext uri="{FF2B5EF4-FFF2-40B4-BE49-F238E27FC236}">
                <a16:creationId xmlns:a16="http://schemas.microsoft.com/office/drawing/2014/main" id="{5B03CB18-FD0E-C256-023B-B6D47E1E1C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3" b="95294" l="10000" r="90000">
                        <a14:foregroundMark x1="43725" y1="10686" x2="50784" y2="6373"/>
                        <a14:foregroundMark x1="50784" y1="6373" x2="53529" y2="6667"/>
                        <a14:foregroundMark x1="31471" y1="95196" x2="51863" y2="97157"/>
                        <a14:foregroundMark x1="51863" y1="97157" x2="59902" y2="95294"/>
                        <a14:foregroundMark x1="59902" y1="95294" x2="65784" y2="91667"/>
                        <a14:foregroundMark x1="43235" y1="39118" x2="45882" y2="33333"/>
                      </a14:backgroundRemoval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08" t="1951" r="20964" b="1851"/>
          <a:stretch/>
        </p:blipFill>
        <p:spPr bwMode="auto">
          <a:xfrm>
            <a:off x="407721" y="816864"/>
            <a:ext cx="3316224" cy="593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64DAB5-44DC-A9DB-15B0-E195CD112EEC}"/>
              </a:ext>
            </a:extLst>
          </p:cNvPr>
          <p:cNvSpPr/>
          <p:nvPr/>
        </p:nvSpPr>
        <p:spPr>
          <a:xfrm>
            <a:off x="3171337" y="1220268"/>
            <a:ext cx="852321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6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Tahapan</a:t>
            </a:r>
            <a:r>
              <a:rPr lang="en-US" sz="36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200 </a:t>
            </a:r>
            <a:r>
              <a:rPr lang="en-US" sz="36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jt</a:t>
            </a:r>
            <a:r>
              <a:rPr lang="en-US" sz="36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26 </a:t>
            </a:r>
            <a:r>
              <a:rPr lang="en-US" sz="36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6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6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5,2 </a:t>
            </a:r>
            <a:r>
              <a:rPr lang="en-US" sz="36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6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50F1FC-7E7C-7F9A-5330-8BFE845009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65842" y="2023395"/>
            <a:ext cx="7650236" cy="455371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D7C3850-FB23-AE99-F8D7-3EA133CB7A9F}"/>
              </a:ext>
            </a:extLst>
          </p:cNvPr>
          <p:cNvSpPr/>
          <p:nvPr/>
        </p:nvSpPr>
        <p:spPr>
          <a:xfrm>
            <a:off x="8510016" y="5071872"/>
            <a:ext cx="1438656" cy="25603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499CDE-2FB8-4874-2CCC-5AB84E536705}"/>
              </a:ext>
            </a:extLst>
          </p:cNvPr>
          <p:cNvSpPr/>
          <p:nvPr/>
        </p:nvSpPr>
        <p:spPr>
          <a:xfrm>
            <a:off x="3171337" y="595667"/>
            <a:ext cx="570443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HASIL INVESTASI PERTAHUN</a:t>
            </a:r>
          </a:p>
        </p:txBody>
      </p:sp>
    </p:spTree>
    <p:extLst>
      <p:ext uri="{BB962C8B-B14F-4D97-AF65-F5344CB8AC3E}">
        <p14:creationId xmlns:p14="http://schemas.microsoft.com/office/powerpoint/2010/main" val="225646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75000+ Gambar Orang Banyak Fotos, PNG, Background Download Gratis -  Lovepik.com">
            <a:extLst>
              <a:ext uri="{FF2B5EF4-FFF2-40B4-BE49-F238E27FC236}">
                <a16:creationId xmlns:a16="http://schemas.microsoft.com/office/drawing/2014/main" id="{5B03CB18-FD0E-C256-023B-B6D47E1E1C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73" b="95294" l="10000" r="90000">
                        <a14:foregroundMark x1="43725" y1="10686" x2="50784" y2="6373"/>
                        <a14:foregroundMark x1="50784" y1="6373" x2="53529" y2="6667"/>
                        <a14:foregroundMark x1="31471" y1="95196" x2="51863" y2="97157"/>
                        <a14:foregroundMark x1="51863" y1="97157" x2="59902" y2="95294"/>
                        <a14:foregroundMark x1="59902" y1="95294" x2="65784" y2="91667"/>
                        <a14:foregroundMark x1="43235" y1="39118" x2="45882" y2="33333"/>
                      </a14:backgroundRemoval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08" t="1951" r="20964" b="1851"/>
          <a:stretch/>
        </p:blipFill>
        <p:spPr bwMode="auto">
          <a:xfrm>
            <a:off x="407721" y="816864"/>
            <a:ext cx="3316224" cy="593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64DAB5-44DC-A9DB-15B0-E195CD112EEC}"/>
              </a:ext>
            </a:extLst>
          </p:cNvPr>
          <p:cNvSpPr/>
          <p:nvPr/>
        </p:nvSpPr>
        <p:spPr>
          <a:xfrm>
            <a:off x="3329833" y="950976"/>
            <a:ext cx="77648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Akhir </a:t>
            </a:r>
            <a:r>
              <a:rPr lang="en-US" sz="44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Kontrak</a:t>
            </a:r>
            <a:r>
              <a:rPr lang="en-US" sz="44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4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Cair</a:t>
            </a:r>
            <a:r>
              <a:rPr lang="en-US" sz="44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 </a:t>
            </a:r>
            <a:r>
              <a:rPr lang="en-US" sz="4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5,550 </a:t>
            </a:r>
            <a:r>
              <a:rPr lang="en-US" sz="44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44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6E8D0-3661-09CB-5E18-142FF9D2FE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65842" y="1742979"/>
            <a:ext cx="7650236" cy="455371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C0C22E6-BF9E-7B79-89C7-9B8ED93891BD}"/>
              </a:ext>
            </a:extLst>
          </p:cNvPr>
          <p:cNvSpPr/>
          <p:nvPr/>
        </p:nvSpPr>
        <p:spPr>
          <a:xfrm>
            <a:off x="8497824" y="5059680"/>
            <a:ext cx="1438656" cy="25603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41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0DDB12-AED1-B8BE-A943-1E8CD9F3D0CF}"/>
              </a:ext>
            </a:extLst>
          </p:cNvPr>
          <p:cNvSpPr/>
          <p:nvPr/>
        </p:nvSpPr>
        <p:spPr>
          <a:xfrm>
            <a:off x="2412550" y="2497976"/>
            <a:ext cx="7354706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cap="none" spc="0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REWARD</a:t>
            </a:r>
            <a:r>
              <a:rPr lang="id-ID" sz="11500" b="1" cap="none" spc="0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 </a:t>
            </a:r>
            <a:r>
              <a:rPr lang="en-US" sz="11500" b="1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??</a:t>
            </a:r>
            <a:endParaRPr lang="en-US" sz="11500" b="1" cap="none" spc="0" dirty="0">
              <a:ln w="0"/>
              <a:solidFill>
                <a:srgbClr val="FFFF00"/>
              </a:solidFill>
              <a:effectLst>
                <a:glow rad="149360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nhala MN" pitchFamily="2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F92B4D-168A-4F1E-9DDE-CD242CD163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4991" b="14203"/>
          <a:stretch/>
        </p:blipFill>
        <p:spPr>
          <a:xfrm>
            <a:off x="7244649" y="561587"/>
            <a:ext cx="4601090" cy="333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64DAB5-44DC-A9DB-15B0-E195CD112EEC}"/>
              </a:ext>
            </a:extLst>
          </p:cNvPr>
          <p:cNvSpPr/>
          <p:nvPr/>
        </p:nvSpPr>
        <p:spPr>
          <a:xfrm>
            <a:off x="4410975" y="1908028"/>
            <a:ext cx="7081896" cy="178510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44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Komisi</a:t>
            </a:r>
            <a:r>
              <a:rPr lang="en-US" sz="4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</a:t>
            </a:r>
            <a:r>
              <a:rPr lang="en-US" sz="44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id-ID" sz="4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:</a:t>
            </a:r>
            <a:r>
              <a:rPr lang="en-US" sz="4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17,5%</a:t>
            </a:r>
          </a:p>
          <a:p>
            <a:r>
              <a:rPr lang="en-US" sz="6600" b="1" dirty="0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175 Juta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BF834-5F3A-0B90-03D4-7268E8556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976" y="1485086"/>
            <a:ext cx="4370832" cy="526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83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64DAB5-44DC-A9DB-15B0-E195CD112EEC}"/>
              </a:ext>
            </a:extLst>
          </p:cNvPr>
          <p:cNvSpPr/>
          <p:nvPr/>
        </p:nvSpPr>
        <p:spPr>
          <a:xfrm>
            <a:off x="4046322" y="438912"/>
            <a:ext cx="6694830" cy="215443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</a:t>
            </a:r>
            <a:r>
              <a:rPr lang="en-US" sz="54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5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Austria</a:t>
            </a:r>
          </a:p>
          <a:p>
            <a:r>
              <a:rPr lang="en-US" sz="8000" b="1" dirty="0" err="1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Senilai</a:t>
            </a:r>
            <a:r>
              <a:rPr lang="en-US" sz="8000" b="1" dirty="0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90 Juta</a:t>
            </a:r>
          </a:p>
        </p:txBody>
      </p:sp>
      <p:pic>
        <p:nvPicPr>
          <p:cNvPr id="7170" name="Picture 2" descr="Luas Negara Austria dan Destinasi Wisata Terbaik yang Wajib Dikunjungi">
            <a:extLst>
              <a:ext uri="{FF2B5EF4-FFF2-40B4-BE49-F238E27FC236}">
                <a16:creationId xmlns:a16="http://schemas.microsoft.com/office/drawing/2014/main" id="{A3C5A2A4-0FCC-3A79-D973-A6307192B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322" y="2504440"/>
            <a:ext cx="741680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2A8635-9AB2-5D71-FEDD-ABB34F868A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976" y="1242568"/>
            <a:ext cx="45720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49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64DAB5-44DC-A9DB-15B0-E195CD112EEC}"/>
              </a:ext>
            </a:extLst>
          </p:cNvPr>
          <p:cNvSpPr/>
          <p:nvPr/>
        </p:nvSpPr>
        <p:spPr>
          <a:xfrm>
            <a:off x="4046322" y="914400"/>
            <a:ext cx="7828686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en-US" sz="54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5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Germany</a:t>
            </a:r>
            <a:r>
              <a:rPr lang="id-ID" sz="5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en-US" sz="54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Poland</a:t>
            </a:r>
          </a:p>
          <a:p>
            <a:r>
              <a:rPr lang="en-US" sz="7200" b="1" dirty="0" err="1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Senilai</a:t>
            </a:r>
            <a:r>
              <a:rPr lang="en-US" sz="7200" b="1" dirty="0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50 Juta</a:t>
            </a:r>
          </a:p>
          <a:p>
            <a:endParaRPr lang="en-US" sz="7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218" name="Picture 2" descr="10 Tempat Wisata Terpopuler di Jerman yang Wajib Dikunjungi -- Yuktravel.com">
            <a:extLst>
              <a:ext uri="{FF2B5EF4-FFF2-40B4-BE49-F238E27FC236}">
                <a16:creationId xmlns:a16="http://schemas.microsoft.com/office/drawing/2014/main" id="{0851162D-E137-D75E-F3FA-0FA1B7988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31" y="3231642"/>
            <a:ext cx="3519992" cy="219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5 Fakta Negara Polandia, Negara Eropa Timur dengan Sejarah Kuat | IDN Times">
            <a:extLst>
              <a:ext uri="{FF2B5EF4-FFF2-40B4-BE49-F238E27FC236}">
                <a16:creationId xmlns:a16="http://schemas.microsoft.com/office/drawing/2014/main" id="{0BAA0E26-6A24-D76C-C2BA-9ADBD337F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127" y="3231642"/>
            <a:ext cx="3492500" cy="219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6D02DE-D519-5673-B228-EDE70AFAC6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8976" y="1242568"/>
            <a:ext cx="45720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50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734CB0-0E20-6D2C-E15B-6B64DAD93C8F}"/>
              </a:ext>
            </a:extLst>
          </p:cNvPr>
          <p:cNvSpPr/>
          <p:nvPr/>
        </p:nvSpPr>
        <p:spPr>
          <a:xfrm>
            <a:off x="4597890" y="816864"/>
            <a:ext cx="6116611" cy="85561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 Promosi BP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4000" b="1" i="1" dirty="0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Juta</a:t>
            </a:r>
            <a:endParaRPr lang="en-US" sz="4400" b="1" i="1" dirty="0">
              <a:ln w="0"/>
              <a:solidFill>
                <a:srgbClr val="FF00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(Bonus Quartal)</a:t>
            </a: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5400" b="1" i="1" dirty="0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52,5 Juta</a:t>
            </a:r>
            <a:endParaRPr lang="en-US" sz="4400" b="1" i="1" dirty="0">
              <a:ln w="0"/>
              <a:solidFill>
                <a:srgbClr val="FF00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44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MAMI (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Potensi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Pengembangan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itip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remi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Sekaligus)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6000" b="1" i="1" dirty="0">
                <a:ln w="0"/>
                <a:solidFill>
                  <a:srgbClr val="FF00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550 Juta</a:t>
            </a:r>
            <a:endParaRPr lang="en-US" sz="3200" b="1" i="1" dirty="0">
              <a:ln w="0"/>
              <a:solidFill>
                <a:srgbClr val="FF00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1FAD0A-AB63-7B5E-2A37-627E43F9A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" y="886968"/>
            <a:ext cx="4572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E54F9FA-9E65-A60C-BC94-E2452F700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AA5F942-39E7-C801-54C8-072E7FEDDB86}"/>
              </a:ext>
            </a:extLst>
          </p:cNvPr>
          <p:cNvGrpSpPr/>
          <p:nvPr/>
        </p:nvGrpSpPr>
        <p:grpSpPr>
          <a:xfrm>
            <a:off x="3109740" y="90023"/>
            <a:ext cx="5970352" cy="1101271"/>
            <a:chOff x="3109740" y="175367"/>
            <a:chExt cx="5970352" cy="110127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6CAB496-7FB6-4C59-D5D3-D866F42F72C1}"/>
                </a:ext>
              </a:extLst>
            </p:cNvPr>
            <p:cNvSpPr/>
            <p:nvPr/>
          </p:nvSpPr>
          <p:spPr>
            <a:xfrm>
              <a:off x="3237179" y="175367"/>
              <a:ext cx="5715475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SETOR 5 MILIAR MDWA C 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DC7697-EBE2-340A-74A0-C95578945CA2}"/>
                </a:ext>
              </a:extLst>
            </p:cNvPr>
            <p:cNvSpPr/>
            <p:nvPr/>
          </p:nvSpPr>
          <p:spPr>
            <a:xfrm>
              <a:off x="3109740" y="691863"/>
              <a:ext cx="5970352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( 1 </a:t>
              </a:r>
              <a:r>
                <a:rPr lang="en-US" sz="3200" b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Miliar</a:t>
              </a:r>
              <a:r>
                <a:rPr lang="en-US" sz="32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/ </a:t>
              </a:r>
              <a:r>
                <a:rPr lang="en-US" sz="3200" b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r>
                <a:rPr lang="en-US" sz="3200" b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3200" b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selama</a:t>
              </a:r>
              <a:r>
                <a:rPr lang="en-US" sz="3200" b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5 </a:t>
              </a:r>
              <a:r>
                <a:rPr lang="en-US" sz="3200" b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r>
                <a:rPr lang="en-US" sz="3200" b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)</a:t>
              </a:r>
              <a:endPara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0B33AB0-6DC8-4CCE-61D5-7AC13849F376}"/>
              </a:ext>
            </a:extLst>
          </p:cNvPr>
          <p:cNvSpPr/>
          <p:nvPr/>
        </p:nvSpPr>
        <p:spPr>
          <a:xfrm>
            <a:off x="1139072" y="1500747"/>
            <a:ext cx="10207410" cy="55092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Tahapan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200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jt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26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= 5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Akhir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Kontrak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Cair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= 5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550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Komisi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17,5%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(Total)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= 175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Austria					= 90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Germany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Poland			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 50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Promosi BP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= 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(Bonus Quartal)				= 52,5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MAMI (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Potensi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Pengembangan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itip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remi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Sekaligus)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= 550 Juta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2B9F29-CFF3-4582-B0AA-22CF930CE27D}"/>
              </a:ext>
            </a:extLst>
          </p:cNvPr>
          <p:cNvCxnSpPr/>
          <p:nvPr/>
        </p:nvCxnSpPr>
        <p:spPr>
          <a:xfrm>
            <a:off x="8453864" y="5997821"/>
            <a:ext cx="259689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63F7796-E921-503D-0C80-CED3743C8B4A}"/>
              </a:ext>
            </a:extLst>
          </p:cNvPr>
          <p:cNvSpPr/>
          <p:nvPr/>
        </p:nvSpPr>
        <p:spPr>
          <a:xfrm>
            <a:off x="8146889" y="5998076"/>
            <a:ext cx="35782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11,672 MILIAR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A125EC-3F7B-4498-F289-D2E80EB2C7FF}"/>
              </a:ext>
            </a:extLst>
          </p:cNvPr>
          <p:cNvCxnSpPr>
            <a:cxnSpLocks/>
          </p:cNvCxnSpPr>
          <p:nvPr/>
        </p:nvCxnSpPr>
        <p:spPr>
          <a:xfrm>
            <a:off x="3109740" y="1191294"/>
            <a:ext cx="597035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246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D8661A-693F-11A6-29AC-46E619C0B92E}"/>
              </a:ext>
            </a:extLst>
          </p:cNvPr>
          <p:cNvGrpSpPr/>
          <p:nvPr/>
        </p:nvGrpSpPr>
        <p:grpSpPr>
          <a:xfrm>
            <a:off x="3369015" y="1568112"/>
            <a:ext cx="8336386" cy="2645718"/>
            <a:chOff x="2054049" y="248519"/>
            <a:chExt cx="8336386" cy="26457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64DAB5-44DC-A9DB-15B0-E195CD112EEC}"/>
                </a:ext>
              </a:extLst>
            </p:cNvPr>
            <p:cNvSpPr/>
            <p:nvPr/>
          </p:nvSpPr>
          <p:spPr>
            <a:xfrm>
              <a:off x="2054049" y="248519"/>
              <a:ext cx="8336386" cy="93871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5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SETOR 2,5 MILIAR MDWA C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3F74F7-B519-E7FF-A8F9-99BB7241B0A6}"/>
                </a:ext>
              </a:extLst>
            </p:cNvPr>
            <p:cNvSpPr/>
            <p:nvPr/>
          </p:nvSpPr>
          <p:spPr>
            <a:xfrm>
              <a:off x="2214140" y="1324577"/>
              <a:ext cx="5121595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685800" indent="-685800">
                <a:buFont typeface="Wingdings" pitchFamily="2" charset="2"/>
                <a:buChar char="§"/>
              </a:pPr>
              <a:r>
                <a:rPr lang="en-US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r>
                <a:rPr lang="en-US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00 Juta / </a:t>
              </a:r>
              <a:r>
                <a:rPr lang="en-US" sz="4800" b="1" i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marL="685800" indent="-685800">
                <a:buFont typeface="Wingdings" pitchFamily="2" charset="2"/>
                <a:buChar char="§"/>
              </a:pPr>
              <a:r>
                <a:rPr lang="id-ID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elama</a:t>
              </a:r>
              <a:r>
                <a:rPr lang="en-US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5 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36F09E-9F7D-2FAB-E6CD-C7574C44B0ED}"/>
              </a:ext>
            </a:extLst>
          </p:cNvPr>
          <p:cNvCxnSpPr>
            <a:cxnSpLocks/>
          </p:cNvCxnSpPr>
          <p:nvPr/>
        </p:nvCxnSpPr>
        <p:spPr>
          <a:xfrm>
            <a:off x="3794654" y="2369197"/>
            <a:ext cx="734883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9D0EE4-25E1-E3E8-832E-332B2E7FD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4176" r="8521"/>
          <a:stretch/>
        </p:blipFill>
        <p:spPr>
          <a:xfrm flipH="1">
            <a:off x="0" y="2433923"/>
            <a:ext cx="4994493" cy="43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87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E54F9FA-9E65-A60C-BC94-E2452F700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B33AB0-6DC8-4CCE-61D5-7AC13849F376}"/>
              </a:ext>
            </a:extLst>
          </p:cNvPr>
          <p:cNvSpPr/>
          <p:nvPr/>
        </p:nvSpPr>
        <p:spPr>
          <a:xfrm>
            <a:off x="1132457" y="1395439"/>
            <a:ext cx="9914894" cy="55092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Tahapa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 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jt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26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= 2,6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Akhir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Kontrak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Cair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= 2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775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Komisi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17,5% (Total)		= 87,5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China						= 25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Austria					= 45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Promosi BP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= 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(Bonus Quartal)				= 26,25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MAMI (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Potensi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Pengembangan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itip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					= 275 Juta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2B9F29-CFF3-4582-B0AA-22CF930CE27D}"/>
              </a:ext>
            </a:extLst>
          </p:cNvPr>
          <p:cNvCxnSpPr/>
          <p:nvPr/>
        </p:nvCxnSpPr>
        <p:spPr>
          <a:xfrm>
            <a:off x="8453864" y="5983296"/>
            <a:ext cx="259689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63F7796-E921-503D-0C80-CED3743C8B4A}"/>
              </a:ext>
            </a:extLst>
          </p:cNvPr>
          <p:cNvSpPr/>
          <p:nvPr/>
        </p:nvSpPr>
        <p:spPr>
          <a:xfrm>
            <a:off x="8279322" y="6003215"/>
            <a:ext cx="32928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id-ID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838</a:t>
            </a:r>
            <a:r>
              <a:rPr lang="en-US" sz="4400" b="1" cap="none" spc="0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MILIAR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2AFB4-BF9D-68F5-FE9D-BA26DB7C202E}"/>
              </a:ext>
            </a:extLst>
          </p:cNvPr>
          <p:cNvSpPr/>
          <p:nvPr/>
        </p:nvSpPr>
        <p:spPr>
          <a:xfrm>
            <a:off x="1139874" y="398513"/>
            <a:ext cx="7313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cap="none" spc="0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YANG DIDAPATKAN :</a:t>
            </a:r>
          </a:p>
        </p:txBody>
      </p:sp>
    </p:spTree>
    <p:extLst>
      <p:ext uri="{BB962C8B-B14F-4D97-AF65-F5344CB8AC3E}">
        <p14:creationId xmlns:p14="http://schemas.microsoft.com/office/powerpoint/2010/main" val="801834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D8661A-693F-11A6-29AC-46E619C0B92E}"/>
              </a:ext>
            </a:extLst>
          </p:cNvPr>
          <p:cNvGrpSpPr/>
          <p:nvPr/>
        </p:nvGrpSpPr>
        <p:grpSpPr>
          <a:xfrm>
            <a:off x="3011547" y="1568112"/>
            <a:ext cx="9051324" cy="2645718"/>
            <a:chOff x="1696581" y="248519"/>
            <a:chExt cx="9051324" cy="26457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64DAB5-44DC-A9DB-15B0-E195CD112EEC}"/>
                </a:ext>
              </a:extLst>
            </p:cNvPr>
            <p:cNvSpPr/>
            <p:nvPr/>
          </p:nvSpPr>
          <p:spPr>
            <a:xfrm>
              <a:off x="1696581" y="248519"/>
              <a:ext cx="9051324" cy="93871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5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SETOR 1</a:t>
              </a:r>
              <a:r>
                <a:rPr lang="id-ID" sz="5500" b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,250</a:t>
              </a:r>
              <a:r>
                <a:rPr lang="en-US" sz="55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MILIAR MDWA C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3F74F7-B519-E7FF-A8F9-99BB7241B0A6}"/>
                </a:ext>
              </a:extLst>
            </p:cNvPr>
            <p:cNvSpPr/>
            <p:nvPr/>
          </p:nvSpPr>
          <p:spPr>
            <a:xfrm>
              <a:off x="2214140" y="1324577"/>
              <a:ext cx="5121595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685800" indent="-685800">
                <a:buFont typeface="Wingdings" pitchFamily="2" charset="2"/>
                <a:buChar char="§"/>
              </a:pPr>
              <a:r>
                <a:rPr lang="en-US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r>
                <a:rPr lang="id-ID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50</a:t>
              </a:r>
              <a:r>
                <a:rPr lang="en-US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Juta / </a:t>
              </a:r>
              <a:r>
                <a:rPr lang="en-US" sz="4800" b="1" i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marL="685800" indent="-685800">
                <a:buFont typeface="Wingdings" pitchFamily="2" charset="2"/>
                <a:buChar char="§"/>
              </a:pPr>
              <a:r>
                <a:rPr lang="id-ID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elama</a:t>
              </a:r>
              <a:r>
                <a:rPr lang="en-US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5 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36F09E-9F7D-2FAB-E6CD-C7574C44B0ED}"/>
              </a:ext>
            </a:extLst>
          </p:cNvPr>
          <p:cNvCxnSpPr>
            <a:cxnSpLocks/>
          </p:cNvCxnSpPr>
          <p:nvPr/>
        </p:nvCxnSpPr>
        <p:spPr>
          <a:xfrm>
            <a:off x="3794654" y="2369197"/>
            <a:ext cx="734883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9D0EE4-25E1-E3E8-832E-332B2E7FD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4176" r="8521"/>
          <a:stretch/>
        </p:blipFill>
        <p:spPr>
          <a:xfrm flipH="1">
            <a:off x="0" y="2433923"/>
            <a:ext cx="4994493" cy="43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53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E54F9FA-9E65-A60C-BC94-E2452F700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B33AB0-6DC8-4CCE-61D5-7AC13849F376}"/>
              </a:ext>
            </a:extLst>
          </p:cNvPr>
          <p:cNvSpPr/>
          <p:nvPr/>
        </p:nvSpPr>
        <p:spPr>
          <a:xfrm>
            <a:off x="1139874" y="1737610"/>
            <a:ext cx="10207410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Tahapa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jt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26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= </a:t>
            </a:r>
            <a:r>
              <a:rPr lang="en-US" sz="3200" b="1" u="sng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id-ID" sz="3200" b="1" u="sng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id-ID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300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Akhir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Kontrak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Cair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= </a:t>
            </a:r>
            <a:r>
              <a:rPr lang="en-US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id-ID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,387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Komisi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17,5% (Total)		=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43,7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China						= 25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(Bonus Quartal)				=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13,1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MAMI (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Potensi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Pengembangan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itip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remi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Sekaligus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			= 1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37,5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Juta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2B9F29-CFF3-4582-B0AA-22CF930CE27D}"/>
              </a:ext>
            </a:extLst>
          </p:cNvPr>
          <p:cNvCxnSpPr/>
          <p:nvPr/>
        </p:nvCxnSpPr>
        <p:spPr>
          <a:xfrm>
            <a:off x="8454666" y="5392340"/>
            <a:ext cx="259689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63F7796-E921-503D-0C80-CED3743C8B4A}"/>
              </a:ext>
            </a:extLst>
          </p:cNvPr>
          <p:cNvSpPr/>
          <p:nvPr/>
        </p:nvSpPr>
        <p:spPr>
          <a:xfrm>
            <a:off x="8363698" y="5542555"/>
            <a:ext cx="32928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id-ID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,906</a:t>
            </a:r>
            <a:r>
              <a:rPr lang="en-US" sz="4400" b="1" cap="none" spc="0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MILIAR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2AFB4-BF9D-68F5-FE9D-BA26DB7C202E}"/>
              </a:ext>
            </a:extLst>
          </p:cNvPr>
          <p:cNvSpPr/>
          <p:nvPr/>
        </p:nvSpPr>
        <p:spPr>
          <a:xfrm>
            <a:off x="1139874" y="398513"/>
            <a:ext cx="7313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cap="none" spc="0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YANG DIDAPATKAN :</a:t>
            </a:r>
          </a:p>
        </p:txBody>
      </p:sp>
    </p:spTree>
    <p:extLst>
      <p:ext uri="{BB962C8B-B14F-4D97-AF65-F5344CB8AC3E}">
        <p14:creationId xmlns:p14="http://schemas.microsoft.com/office/powerpoint/2010/main" val="686946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D8661A-693F-11A6-29AC-46E619C0B92E}"/>
              </a:ext>
            </a:extLst>
          </p:cNvPr>
          <p:cNvGrpSpPr/>
          <p:nvPr/>
        </p:nvGrpSpPr>
        <p:grpSpPr>
          <a:xfrm>
            <a:off x="3529106" y="1568112"/>
            <a:ext cx="7906990" cy="2645718"/>
            <a:chOff x="2214140" y="248519"/>
            <a:chExt cx="7906990" cy="26457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64DAB5-44DC-A9DB-15B0-E195CD112EEC}"/>
                </a:ext>
              </a:extLst>
            </p:cNvPr>
            <p:cNvSpPr/>
            <p:nvPr/>
          </p:nvSpPr>
          <p:spPr>
            <a:xfrm>
              <a:off x="2323354" y="248519"/>
              <a:ext cx="7797776" cy="93871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5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SETOR 1 MILIAR MDWA C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3F74F7-B519-E7FF-A8F9-99BB7241B0A6}"/>
                </a:ext>
              </a:extLst>
            </p:cNvPr>
            <p:cNvSpPr/>
            <p:nvPr/>
          </p:nvSpPr>
          <p:spPr>
            <a:xfrm>
              <a:off x="2214140" y="1324577"/>
              <a:ext cx="5121595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685800" indent="-685800">
                <a:buFont typeface="Wingdings" pitchFamily="2" charset="2"/>
                <a:buChar char="§"/>
              </a:pPr>
              <a:r>
                <a:rPr lang="en-US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200 Juta / </a:t>
              </a:r>
              <a:r>
                <a:rPr lang="en-US" sz="4800" b="1" i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marL="685800" indent="-685800">
                <a:buFont typeface="Wingdings" pitchFamily="2" charset="2"/>
                <a:buChar char="§"/>
              </a:pPr>
              <a:r>
                <a:rPr lang="id-ID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elama</a:t>
              </a:r>
              <a:r>
                <a:rPr lang="en-US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5 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36F09E-9F7D-2FAB-E6CD-C7574C44B0ED}"/>
              </a:ext>
            </a:extLst>
          </p:cNvPr>
          <p:cNvCxnSpPr>
            <a:cxnSpLocks/>
          </p:cNvCxnSpPr>
          <p:nvPr/>
        </p:nvCxnSpPr>
        <p:spPr>
          <a:xfrm>
            <a:off x="3794654" y="2369197"/>
            <a:ext cx="734883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9D0EE4-25E1-E3E8-832E-332B2E7FD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4176" r="8521"/>
          <a:stretch/>
        </p:blipFill>
        <p:spPr>
          <a:xfrm flipH="1">
            <a:off x="0" y="2433923"/>
            <a:ext cx="4994493" cy="43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13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E54F9FA-9E65-A60C-BC94-E2452F700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B33AB0-6DC8-4CCE-61D5-7AC13849F376}"/>
              </a:ext>
            </a:extLst>
          </p:cNvPr>
          <p:cNvSpPr/>
          <p:nvPr/>
        </p:nvSpPr>
        <p:spPr>
          <a:xfrm>
            <a:off x="1139874" y="1737610"/>
            <a:ext cx="10207410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Tahapa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40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jt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26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= </a:t>
            </a:r>
            <a:r>
              <a:rPr lang="en-US" sz="3200" b="1" u="sng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id-ID" sz="3200" b="1" u="sng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3200" b="1" u="sng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Akhir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Kontrak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Cair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= </a:t>
            </a:r>
            <a:r>
              <a:rPr lang="en-US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id-ID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110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Miliar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Komisi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17,5% (Total)		= 35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Tiket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China						= 25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(Bonus Quartal)				= 7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MAMI (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Potensi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Pengembangan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itip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remi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Sekaligus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			= 110 Juta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2B9F29-CFF3-4582-B0AA-22CF930CE27D}"/>
              </a:ext>
            </a:extLst>
          </p:cNvPr>
          <p:cNvCxnSpPr/>
          <p:nvPr/>
        </p:nvCxnSpPr>
        <p:spPr>
          <a:xfrm>
            <a:off x="8454666" y="5392340"/>
            <a:ext cx="259689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63F7796-E921-503D-0C80-CED3743C8B4A}"/>
              </a:ext>
            </a:extLst>
          </p:cNvPr>
          <p:cNvSpPr/>
          <p:nvPr/>
        </p:nvSpPr>
        <p:spPr>
          <a:xfrm>
            <a:off x="8363698" y="5542555"/>
            <a:ext cx="32928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id-ID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sz="4400" b="1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327</a:t>
            </a:r>
            <a:r>
              <a:rPr lang="en-US" sz="4400" b="1" cap="none" spc="0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MILIAR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2AFB4-BF9D-68F5-FE9D-BA26DB7C202E}"/>
              </a:ext>
            </a:extLst>
          </p:cNvPr>
          <p:cNvSpPr/>
          <p:nvPr/>
        </p:nvSpPr>
        <p:spPr>
          <a:xfrm>
            <a:off x="1139874" y="398513"/>
            <a:ext cx="7313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cap="none" spc="0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YANG DIDAPATKAN :</a:t>
            </a:r>
          </a:p>
        </p:txBody>
      </p:sp>
    </p:spTree>
    <p:extLst>
      <p:ext uri="{BB962C8B-B14F-4D97-AF65-F5344CB8AC3E}">
        <p14:creationId xmlns:p14="http://schemas.microsoft.com/office/powerpoint/2010/main" val="2089767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F995959-BF44-7541-A788-ACFFAFC1E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D8661A-693F-11A6-29AC-46E619C0B92E}"/>
              </a:ext>
            </a:extLst>
          </p:cNvPr>
          <p:cNvGrpSpPr/>
          <p:nvPr/>
        </p:nvGrpSpPr>
        <p:grpSpPr>
          <a:xfrm>
            <a:off x="3529106" y="1568112"/>
            <a:ext cx="7914524" cy="2645718"/>
            <a:chOff x="2214140" y="248519"/>
            <a:chExt cx="7914524" cy="26457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864DAB5-44DC-A9DB-15B0-E195CD112EEC}"/>
                </a:ext>
              </a:extLst>
            </p:cNvPr>
            <p:cNvSpPr/>
            <p:nvPr/>
          </p:nvSpPr>
          <p:spPr>
            <a:xfrm>
              <a:off x="2315820" y="248519"/>
              <a:ext cx="7812844" cy="93871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5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SETOR </a:t>
              </a:r>
              <a:r>
                <a:rPr lang="id-ID" sz="5500" b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500 JUTA</a:t>
              </a:r>
              <a:r>
                <a:rPr lang="en-US" sz="5500" b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MDWA C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3F74F7-B519-E7FF-A8F9-99BB7241B0A6}"/>
                </a:ext>
              </a:extLst>
            </p:cNvPr>
            <p:cNvSpPr/>
            <p:nvPr/>
          </p:nvSpPr>
          <p:spPr>
            <a:xfrm>
              <a:off x="2214140" y="1324577"/>
              <a:ext cx="5121595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685800" indent="-685800">
                <a:buFont typeface="Wingdings" pitchFamily="2" charset="2"/>
                <a:buChar char="§"/>
              </a:pPr>
              <a:r>
                <a:rPr lang="id-ID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r>
                <a:rPr lang="en-US" sz="4800" b="1" i="1" cap="none" spc="0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00 Juta / </a:t>
              </a:r>
              <a:r>
                <a:rPr lang="en-US" sz="4800" b="1" i="1" cap="none" spc="0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marL="685800" indent="-685800">
                <a:buFont typeface="Wingdings" pitchFamily="2" charset="2"/>
                <a:buChar char="§"/>
              </a:pPr>
              <a:r>
                <a:rPr lang="id-ID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elama</a:t>
              </a:r>
              <a:r>
                <a:rPr lang="en-US" sz="4800" b="1" i="1" dirty="0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5 </a:t>
              </a:r>
              <a:r>
                <a:rPr lang="en-US" sz="4800" b="1" i="1" dirty="0" err="1">
                  <a:ln w="0"/>
                  <a:solidFill>
                    <a:srgbClr val="FFFF00"/>
                  </a:solidFill>
                  <a:effectLst>
                    <a:glow rad="57345">
                      <a:schemeClr val="tx1"/>
                    </a:glow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Tahun</a:t>
              </a:r>
              <a:endParaRPr lang="en-US" sz="4800" b="1" i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36F09E-9F7D-2FAB-E6CD-C7574C44B0ED}"/>
              </a:ext>
            </a:extLst>
          </p:cNvPr>
          <p:cNvCxnSpPr>
            <a:cxnSpLocks/>
          </p:cNvCxnSpPr>
          <p:nvPr/>
        </p:nvCxnSpPr>
        <p:spPr>
          <a:xfrm>
            <a:off x="3794654" y="2369197"/>
            <a:ext cx="734883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9D0EE4-25E1-E3E8-832E-332B2E7FD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4176" r="8521"/>
          <a:stretch/>
        </p:blipFill>
        <p:spPr>
          <a:xfrm flipH="1">
            <a:off x="0" y="2433923"/>
            <a:ext cx="4994493" cy="43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92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CE54F9FA-9E65-A60C-BC94-E2452F700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B33AB0-6DC8-4CCE-61D5-7AC13849F376}"/>
              </a:ext>
            </a:extLst>
          </p:cNvPr>
          <p:cNvSpPr/>
          <p:nvPr/>
        </p:nvSpPr>
        <p:spPr>
          <a:xfrm>
            <a:off x="1139874" y="1737610"/>
            <a:ext cx="9389878" cy="403187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Tahapa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jt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x 26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= </a:t>
            </a:r>
            <a:r>
              <a:rPr lang="id-ID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520 Juta</a:t>
            </a: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Akhir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Kontrak</a:t>
            </a:r>
            <a:r>
              <a:rPr lang="en-US" sz="3200" b="1" cap="none" spc="0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cap="none" spc="0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Cair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= </a:t>
            </a:r>
            <a:r>
              <a:rPr lang="id-ID" sz="3200" b="1" u="sng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555 Juta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Komisi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17,5% (Total)		=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17,5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Juta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(Bonus Quartal)				=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1,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Juta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MAMI (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Potensi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Pengembangan</a:t>
            </a: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dari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itip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lang="en-US" sz="3200" b="1" dirty="0" err="1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remi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Sekaligus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			= </a:t>
            </a:r>
            <a:r>
              <a:rPr lang="id-ID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</a:t>
            </a:r>
            <a:r>
              <a:rPr lang="en-US" sz="3200" b="1" dirty="0">
                <a:ln w="0"/>
                <a:solidFill>
                  <a:srgbClr val="FFFF00"/>
                </a:solidFill>
                <a:effectLst>
                  <a:glow rad="57345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Juta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b="1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3200" b="1" cap="none" spc="0" dirty="0">
              <a:ln w="0"/>
              <a:solidFill>
                <a:srgbClr val="FFFF00"/>
              </a:solidFill>
              <a:effectLst>
                <a:glow rad="57345">
                  <a:schemeClr val="tx1"/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2B9F29-CFF3-4582-B0AA-22CF930CE27D}"/>
              </a:ext>
            </a:extLst>
          </p:cNvPr>
          <p:cNvCxnSpPr/>
          <p:nvPr/>
        </p:nvCxnSpPr>
        <p:spPr>
          <a:xfrm>
            <a:off x="8454666" y="5392340"/>
            <a:ext cx="259689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63F7796-E921-503D-0C80-CED3743C8B4A}"/>
              </a:ext>
            </a:extLst>
          </p:cNvPr>
          <p:cNvSpPr/>
          <p:nvPr/>
        </p:nvSpPr>
        <p:spPr>
          <a:xfrm>
            <a:off x="8363697" y="5542555"/>
            <a:ext cx="32928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4400" b="1" cap="none" spc="0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1,149</a:t>
            </a:r>
            <a:r>
              <a:rPr lang="en-US" sz="4400" b="1" cap="none" spc="0" dirty="0">
                <a:ln w="0"/>
                <a:solidFill>
                  <a:srgbClr val="FF0000"/>
                </a:solidFill>
                <a:effectLst>
                  <a:glow rad="38100">
                    <a:schemeClr val="bg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MILIAR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2AFB4-BF9D-68F5-FE9D-BA26DB7C202E}"/>
              </a:ext>
            </a:extLst>
          </p:cNvPr>
          <p:cNvSpPr/>
          <p:nvPr/>
        </p:nvSpPr>
        <p:spPr>
          <a:xfrm>
            <a:off x="1139874" y="398513"/>
            <a:ext cx="7313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cap="none" spc="0" dirty="0">
                <a:ln w="0"/>
                <a:solidFill>
                  <a:srgbClr val="FFFF00"/>
                </a:solidFill>
                <a:effectLst>
                  <a:glow rad="149360">
                    <a:schemeClr val="tx1"/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nhala MN" pitchFamily="2" charset="0"/>
                <a:cs typeface="Calibri" panose="020F0502020204030204" pitchFamily="34" charset="0"/>
              </a:rPr>
              <a:t>YANG DIDAPATKAN :</a:t>
            </a:r>
          </a:p>
        </p:txBody>
      </p:sp>
    </p:spTree>
    <p:extLst>
      <p:ext uri="{BB962C8B-B14F-4D97-AF65-F5344CB8AC3E}">
        <p14:creationId xmlns:p14="http://schemas.microsoft.com/office/powerpoint/2010/main" val="1581334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ownload Green, Abstract, Leaf. Royalty-Free Stock Illustration Image -  Pixabay">
            <a:extLst>
              <a:ext uri="{FF2B5EF4-FFF2-40B4-BE49-F238E27FC236}">
                <a16:creationId xmlns:a16="http://schemas.microsoft.com/office/drawing/2014/main" id="{56A3A75E-2980-73E2-C98D-14003E35E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" y="85344"/>
            <a:ext cx="12009120" cy="66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6A44A60-B75F-9E19-67C6-71167FD5040C}"/>
              </a:ext>
            </a:extLst>
          </p:cNvPr>
          <p:cNvGrpSpPr/>
          <p:nvPr/>
        </p:nvGrpSpPr>
        <p:grpSpPr>
          <a:xfrm>
            <a:off x="1875448" y="2116361"/>
            <a:ext cx="8428911" cy="2606990"/>
            <a:chOff x="1875447" y="1566918"/>
            <a:chExt cx="8428911" cy="26069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0DDB12-AED1-B8BE-A943-1E8CD9F3D0CF}"/>
                </a:ext>
              </a:extLst>
            </p:cNvPr>
            <p:cNvSpPr/>
            <p:nvPr/>
          </p:nvSpPr>
          <p:spPr>
            <a:xfrm>
              <a:off x="1875447" y="2311860"/>
              <a:ext cx="8428911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b="1" cap="none" spc="0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HARTER ROMAN" panose="02040503050506020203" pitchFamily="18" charset="0"/>
                  <a:cs typeface="Big Caslon Medium" panose="02000603090000020003" pitchFamily="2" charset="-79"/>
                </a:rPr>
                <a:t>THANK YOU</a:t>
              </a:r>
              <a:endParaRPr lang="en-US" sz="11500" b="1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HARTER ROMAN" panose="02040503050506020203" pitchFamily="18" charset="0"/>
                <a:cs typeface="BIG CASLON MEDIUM" panose="02000603090000020003" pitchFamily="2" charset="-79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0CA0AF4-242B-5EE8-92BD-201FFF13B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4836" r="24734"/>
            <a:stretch/>
          </p:blipFill>
          <p:spPr>
            <a:xfrm>
              <a:off x="5641134" y="1566918"/>
              <a:ext cx="909729" cy="9019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408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5108</TotalTime>
  <Words>438</Words>
  <Application>Microsoft Office PowerPoint</Application>
  <PresentationFormat>Widescreen</PresentationFormat>
  <Paragraphs>75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Hendry Pancawira</cp:lastModifiedBy>
  <cp:revision>13</cp:revision>
  <dcterms:created xsi:type="dcterms:W3CDTF">2026-04-02T09:56:49Z</dcterms:created>
  <dcterms:modified xsi:type="dcterms:W3CDTF">2026-05-25T14:21:18Z</dcterms:modified>
</cp:coreProperties>
</file>